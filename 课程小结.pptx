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1004" r:id="rId2"/>
    <p:sldId id="1222" r:id="rId3"/>
    <p:sldId id="1223" r:id="rId4"/>
    <p:sldId id="1224" r:id="rId5"/>
    <p:sldId id="1225" r:id="rId6"/>
    <p:sldId id="1227" r:id="rId7"/>
    <p:sldId id="1226" r:id="rId8"/>
    <p:sldId id="1228" r:id="rId9"/>
    <p:sldId id="1229" r:id="rId10"/>
    <p:sldId id="1230" r:id="rId11"/>
    <p:sldId id="1231" r:id="rId12"/>
    <p:sldId id="1232" r:id="rId13"/>
    <p:sldId id="1233" r:id="rId14"/>
    <p:sldId id="1234" r:id="rId15"/>
  </p:sldIdLst>
  <p:sldSz cx="9144000" cy="6858000" type="screen4x3"/>
  <p:notesSz cx="6781800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folHlink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1402"/>
    <a:srgbClr val="000099"/>
    <a:srgbClr val="6D3B67"/>
    <a:srgbClr val="33CC33"/>
    <a:srgbClr val="8FFFFF"/>
    <a:srgbClr val="009900"/>
    <a:srgbClr val="006666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289" autoAdjust="0"/>
    <p:restoredTop sz="99181" autoAdjust="0"/>
  </p:normalViewPr>
  <p:slideViewPr>
    <p:cSldViewPr>
      <p:cViewPr varScale="1">
        <p:scale>
          <a:sx n="113" d="100"/>
          <a:sy n="113" d="100"/>
        </p:scale>
        <p:origin x="-1584" y="-114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348" y="-84"/>
      </p:cViewPr>
      <p:guideLst>
        <p:guide orient="horz" pos="3127"/>
        <p:guide pos="21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2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pPr>
              <a:defRPr/>
            </a:pPr>
            <a:fld id="{CB608C7F-C142-40DC-AEAA-38E57C1E4CDB}" type="datetime1">
              <a:rPr lang="zh-CN" altLang="en-US"/>
              <a:pPr>
                <a:defRPr/>
              </a:pPr>
              <a:t>2017/11/2</a:t>
            </a:fld>
            <a:endParaRPr lang="en-US" altLang="zh-CN" dirty="0"/>
          </a:p>
        </p:txBody>
      </p:sp>
      <p:sp>
        <p:nvSpPr>
          <p:cNvPr id="20582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2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975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pPr>
              <a:defRPr/>
            </a:pPr>
            <a:fld id="{5DB81B6D-0C68-47C4-8790-593BA80F40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778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40163" y="0"/>
            <a:ext cx="294005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25E1EB22-031B-4EE4-B0A1-24A1C0D5DCAE}" type="datetime1">
              <a:rPr lang="zh-CN" altLang="en-US"/>
              <a:pPr>
                <a:defRPr/>
              </a:pPr>
              <a:t>2017/11/2</a:t>
            </a:fld>
            <a:endParaRPr lang="en-US" altLang="zh-CN"/>
          </a:p>
        </p:txBody>
      </p:sp>
      <p:sp>
        <p:nvSpPr>
          <p:cNvPr id="6963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4875"/>
            <a:ext cx="5426075" cy="4467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9696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0050" cy="495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0163" y="9429750"/>
            <a:ext cx="2940050" cy="495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69DD2B63-E8C6-439A-BBF1-04EFCCA223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049082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5E1EB22-031B-4EE4-B0A1-24A1C0D5DCAE}" type="datetime1">
              <a:rPr lang="zh-CN" altLang="en-US" smtClean="0"/>
              <a:pPr>
                <a:defRPr/>
              </a:pPr>
              <a:t>2017/11/2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9DD2B63-E8C6-439A-BBF1-04EFCCA223F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973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74549-9499-457C-A39C-735A663DF0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5D201-A928-4C27-A7BD-74F052CAF917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F11A0-BCD0-48CE-B96C-9EE0B2B38C9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6214C-6A89-47BA-B3F7-06E655FB13BD}" type="datetime1">
              <a:rPr lang="zh-CN" altLang="en-US"/>
              <a:pPr>
                <a:defRPr/>
              </a:pPr>
              <a:t>2017/11/2</a:t>
            </a:fld>
            <a:endParaRPr lang="zh-CN" altLang="zh-CN" dirty="0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F3847-7236-4FAE-8933-5DEFA11905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171D4-9892-4464-9994-C83362BFE0E7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CE013-70EB-4CDD-B5F5-092D71D003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5D9B-A5FF-43A1-AB6A-E7F1BB85ACA3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7EAC3-F79C-428D-8EB3-39C4B62FD9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8C644-13BA-438B-BB6C-CBFBAA7E0FAB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F916A-85D2-43E2-9FAF-42E2DD3725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A59ED-94C8-440B-A66C-E2F911351BDA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DE37D-83F6-47F2-8A0A-BE14486BA8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8D5AA-29ED-4671-90DA-D066D8577B94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2815E-2DC8-4BC7-9842-B9BE28455E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76F25-F9F4-49BE-94A0-681A150C6F17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58F19-3ED5-4144-9177-F038C06156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3B9CB-1F09-4F3C-9A14-D3F97ACED8E7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FE48D-31D4-4CE1-8258-FFA5A20EDC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E7F9B-ACF5-4784-8B08-E094281782AA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6CFE1-F301-4DCB-8E89-D4112E4FD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72DE1-FF0D-413B-8678-1BE1F413EB5D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5527D-09A7-4A19-94D3-45A9D5CC45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1512A-4D54-4A05-BE0F-6AE874316541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3421-7D5E-4FBC-B98C-E3A8D53232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17CC7-B022-4E93-8B67-1F2A7C413AB8}" type="datetime1">
              <a:rPr lang="zh-CN" altLang="en-US"/>
              <a:pPr>
                <a:defRPr/>
              </a:pPr>
              <a:t>2017/11/2</a:t>
            </a:fld>
            <a:endParaRPr lang="zh-CN" altLang="zh-CN"/>
          </a:p>
        </p:txBody>
      </p:sp>
    </p:spTree>
  </p:cSld>
  <p:clrMapOvr>
    <a:masterClrMapping/>
  </p:clrMapOvr>
  <p:transition advTm="19657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58D11-202A-497B-AE92-0C6CE086B60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27316-17DD-4E74-AEA6-4970099C3C5B}" type="datetime1">
              <a:rPr lang="zh-CN" altLang="en-US"/>
              <a:pPr>
                <a:defRPr/>
              </a:pPr>
              <a:t>2017/11/2</a:t>
            </a:fld>
            <a:endParaRPr lang="zh-CN" altLang="zh-CN" dirty="0"/>
          </a:p>
        </p:txBody>
      </p:sp>
    </p:spTree>
  </p:cSld>
  <p:clrMapOvr>
    <a:masterClrMapping/>
  </p:clrMapOvr>
  <p:transition advTm="19657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68"/>
          <p:cNvSpPr>
            <a:spLocks noChangeArrowheads="1"/>
          </p:cNvSpPr>
          <p:nvPr userDrawn="1"/>
        </p:nvSpPr>
        <p:spPr bwMode="auto">
          <a:xfrm>
            <a:off x="0" y="6525344"/>
            <a:ext cx="9144000" cy="33265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endParaRPr lang="zh-CN" altLang="en-US">
              <a:ea typeface="楷体_GB2312" pitchFamily="49" charset="-122"/>
            </a:endParaRPr>
          </a:p>
        </p:txBody>
      </p:sp>
      <p:pic>
        <p:nvPicPr>
          <p:cNvPr id="6147" name="Picture 1058" descr="logo"/>
          <p:cNvPicPr>
            <a:picLocks noChangeAspect="1" noChangeArrowheads="1"/>
          </p:cNvPicPr>
          <p:nvPr userDrawn="1"/>
        </p:nvPicPr>
        <p:blipFill>
          <a:blip r:embed="rId16" cstate="print">
            <a:lum bright="16000"/>
          </a:blip>
          <a:srcRect/>
          <a:stretch>
            <a:fillRect/>
          </a:stretch>
        </p:blipFill>
        <p:spPr bwMode="auto">
          <a:xfrm>
            <a:off x="0" y="0"/>
            <a:ext cx="1152525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1069"/>
          <p:cNvSpPr>
            <a:spLocks noChangeArrowheads="1"/>
          </p:cNvSpPr>
          <p:nvPr userDrawn="1"/>
        </p:nvSpPr>
        <p:spPr bwMode="auto">
          <a:xfrm>
            <a:off x="1331640" y="827795"/>
            <a:ext cx="6767513" cy="7143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50000"/>
              </a:spcBef>
              <a:defRPr/>
            </a:pPr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86019" name="Rectangle 10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6" y="6525344"/>
            <a:ext cx="752475" cy="3326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800">
                <a:solidFill>
                  <a:schemeClr val="bg1"/>
                </a:solidFill>
                <a:latin typeface="+mn-lt"/>
                <a:ea typeface="黑体" pitchFamily="49" charset="-122"/>
              </a:defRPr>
            </a:lvl1pPr>
          </a:lstStyle>
          <a:p>
            <a:pPr>
              <a:defRPr/>
            </a:pPr>
            <a:fld id="{EA56C403-BC00-4B9E-A0B1-9F045DC7FD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2055" name="Text Box 1028"/>
          <p:cNvSpPr txBox="1">
            <a:spLocks noChangeArrowheads="1"/>
          </p:cNvSpPr>
          <p:nvPr userDrawn="1"/>
        </p:nvSpPr>
        <p:spPr bwMode="auto">
          <a:xfrm>
            <a:off x="2195513" y="6531441"/>
            <a:ext cx="4824412" cy="35394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1700" dirty="0" smtClean="0">
                <a:solidFill>
                  <a:schemeClr val="bg1"/>
                </a:solidFill>
              </a:rPr>
              <a:t>算法设计</a:t>
            </a:r>
          </a:p>
        </p:txBody>
      </p:sp>
      <p:sp>
        <p:nvSpPr>
          <p:cNvPr id="86021" name="Rectangle 10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25344"/>
            <a:ext cx="1905000" cy="3326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0" sz="1800">
                <a:solidFill>
                  <a:schemeClr val="bg1"/>
                </a:solidFill>
                <a:latin typeface="+mn-lt"/>
                <a:ea typeface="黑体" pitchFamily="49" charset="-122"/>
              </a:defRPr>
            </a:lvl1pPr>
          </a:lstStyle>
          <a:p>
            <a:pPr>
              <a:defRPr/>
            </a:pPr>
            <a:fld id="{AF772E49-DFCD-4814-928B-88E836C3144A}" type="datetime1">
              <a:rPr lang="zh-CN" altLang="en-US"/>
              <a:pPr>
                <a:defRPr/>
              </a:pPr>
              <a:t>2017/11/2</a:t>
            </a:fld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97" r:id="rId1"/>
    <p:sldLayoutId id="2147485198" r:id="rId2"/>
    <p:sldLayoutId id="2147485199" r:id="rId3"/>
    <p:sldLayoutId id="2147485200" r:id="rId4"/>
    <p:sldLayoutId id="2147485201" r:id="rId5"/>
    <p:sldLayoutId id="2147485202" r:id="rId6"/>
    <p:sldLayoutId id="2147485203" r:id="rId7"/>
    <p:sldLayoutId id="2147485204" r:id="rId8"/>
    <p:sldLayoutId id="2147485205" r:id="rId9"/>
    <p:sldLayoutId id="2147485206" r:id="rId10"/>
    <p:sldLayoutId id="2147485207" r:id="rId11"/>
    <p:sldLayoutId id="2147485208" r:id="rId12"/>
    <p:sldLayoutId id="2147485209" r:id="rId13"/>
    <p:sldLayoutId id="2147485210" r:id="rId14"/>
  </p:sldLayoutIdLst>
  <p:transition advTm="19657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1FC2D-E027-4969-A759-739065BA78C0}" type="slidenum">
              <a:rPr lang="en-US" altLang="zh-CN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7" name="日期占位符 4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fld id="{807A5FF6-4B3B-4B8B-89FE-8EF08007BB0F}" type="datetime1">
              <a:rPr lang="zh-CN" altLang="en-US"/>
              <a:pPr>
                <a:defRPr/>
              </a:pPr>
              <a:t>2017/11/2</a:t>
            </a:fld>
            <a:endParaRPr lang="zh-CN" altLang="zh-CN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27584" y="1823338"/>
            <a:ext cx="7740650" cy="76944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defRPr/>
            </a:pPr>
            <a:r>
              <a:rPr lang="zh-CN" altLang="en-US" sz="4400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课程小结</a:t>
            </a:r>
            <a:endParaRPr lang="en-US" altLang="zh-CN" sz="4400" kern="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699792" y="4561964"/>
            <a:ext cx="4234792" cy="5232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itchFamily="49" charset="-122"/>
                <a:ea typeface="仿宋" pitchFamily="49" charset="-122"/>
              </a:rPr>
              <a:t>计算机学院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</p:spTree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课程内容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一、算法分析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二、合并查找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三、基于比较的排序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四、查找算法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五、图算法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六、字符串排序</a:t>
            </a:r>
            <a:endParaRPr lang="zh-CN" altLang="en-US" sz="3200" kern="0" dirty="0"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901769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一、算法分析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用观察法进行时间性能分析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线性回归：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评估</a:t>
            </a:r>
            <a:r>
              <a:rPr lang="en-US" altLang="zh-CN" sz="2400" i="1" kern="0" dirty="0" smtClean="0">
                <a:latin typeface="Times New Roman"/>
                <a:ea typeface="楷体_GB2312" pitchFamily="49" charset="-122"/>
              </a:rPr>
              <a:t>T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(</a:t>
            </a:r>
            <a:r>
              <a:rPr lang="en-US" altLang="zh-CN" sz="2400" i="1" kern="0" dirty="0" smtClean="0">
                <a:latin typeface="Times New Roman"/>
                <a:ea typeface="楷体_GB2312" pitchFamily="49" charset="-122"/>
              </a:rPr>
              <a:t>N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) = </a:t>
            </a:r>
            <a:r>
              <a:rPr lang="en-US" altLang="zh-CN" sz="2400" i="1" kern="0" dirty="0" err="1" smtClean="0">
                <a:latin typeface="Times New Roman"/>
                <a:ea typeface="楷体_GB2312" pitchFamily="49" charset="-122"/>
              </a:rPr>
              <a:t>aN</a:t>
            </a:r>
            <a:r>
              <a:rPr lang="en-US" altLang="zh-CN" sz="2400" kern="0" dirty="0" err="1" smtClean="0">
                <a:latin typeface="Times New Roman"/>
                <a:ea typeface="楷体_GB2312" pitchFamily="49" charset="-122"/>
              </a:rPr>
              <a:t>^</a:t>
            </a:r>
            <a:r>
              <a:rPr lang="en-US" altLang="zh-CN" sz="2400" i="1" kern="0" dirty="0" err="1" smtClean="0">
                <a:latin typeface="Times New Roman"/>
                <a:ea typeface="楷体_GB2312" pitchFamily="49" charset="-122"/>
              </a:rPr>
              <a:t>b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中的参数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倍律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实验：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快速评估参数</a:t>
            </a:r>
            <a:r>
              <a:rPr lang="en-US" altLang="zh-CN" sz="2400" i="1" kern="0" dirty="0" smtClean="0">
                <a:latin typeface="Times New Roman"/>
                <a:ea typeface="楷体_GB2312" pitchFamily="49" charset="-122"/>
              </a:rPr>
              <a:t>b</a:t>
            </a: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局限性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用数学模型进行时间性能分析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开销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模型 </a:t>
            </a:r>
            <a:r>
              <a:rPr lang="en-US" altLang="zh-CN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+ 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波浪</a:t>
            </a: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线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标记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常见的增长量级</a:t>
            </a: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5594030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一、算法分析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算法理论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最好、最坏、平均情况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上界、下界、最优算法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空间性能分析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1698654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二</a:t>
            </a:r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、合并查找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动态连通性问题及抽象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Quick-find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quick-union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3200" kern="0" dirty="0" err="1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weightedQU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数据结构：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数组的解释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算法过程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时间性能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路径压缩的原理</a:t>
            </a:r>
            <a:endParaRPr lang="en-US" altLang="zh-CN" kern="0" dirty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140779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二</a:t>
            </a:r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、合并查找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对算法进行改进的策略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分析问题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提出思路（逻辑）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实现思路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endParaRPr lang="en-US" altLang="zh-CN" kern="0" dirty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空间换时间的算法设计思想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例子：</a:t>
            </a:r>
            <a:r>
              <a:rPr lang="en-US" altLang="zh-CN" sz="2400" kern="0" dirty="0" err="1" smtClean="0">
                <a:latin typeface="Times New Roman"/>
                <a:ea typeface="楷体_GB2312" pitchFamily="49" charset="-122"/>
              </a:rPr>
              <a:t>weightedQU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前提条件：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存储空间在可允许的范围内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3602478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三、</a:t>
            </a:r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基于比较的排序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分治算法设计思想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归并排序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算法过程：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自顶向下（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递归）、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自底向上（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非递归）</a:t>
            </a:r>
            <a:endParaRPr lang="en-US" altLang="zh-CN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算法分析：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求解递推式（三种方法）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算法改进：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引入插入排序、已有序则不再合并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768065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三、</a:t>
            </a:r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基于比较的排序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排序算法的性质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原地排序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稳定性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复杂度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最优排序算法：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决策树分析方法</a:t>
            </a:r>
            <a:endParaRPr lang="en-US" altLang="zh-CN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kern="0" dirty="0" smtClean="0"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所学排序算法在这些性质上的比较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294763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三、</a:t>
            </a:r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基于比较的排序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快速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排序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过程：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重点是划分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最好和最坏情况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平均情况下的分析方法：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计算数学期望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算法改进：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引入插入排序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、采样中位数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快速选择算法：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划分的应用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三向划分：</a:t>
            </a:r>
            <a:r>
              <a:rPr lang="zh-CN" altLang="en-US" sz="2000" kern="0" dirty="0" smtClean="0">
                <a:latin typeface="Times New Roman"/>
                <a:ea typeface="楷体_GB2312" pitchFamily="49" charset="-122"/>
              </a:rPr>
              <a:t>解决具有大量重复值的排序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31251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三、</a:t>
            </a:r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基于比较的排序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优先队列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初级实现：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无序和有序数组</a:t>
            </a:r>
            <a:endParaRPr lang="en-US" altLang="zh-CN" sz="2000" kern="0" dirty="0" smtClean="0"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二叉堆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概念（性质）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上浮操作：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实现插入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下沉操作：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实现删除最大元素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Times New Roman"/>
                <a:ea typeface="楷体_GB2312" pitchFamily="49" charset="-122"/>
              </a:rPr>
              <a:t>与初级实现在性能方面进行比较</a:t>
            </a:r>
            <a:endParaRPr lang="en-US" altLang="zh-CN" kern="0" dirty="0" smtClean="0">
              <a:solidFill>
                <a:srgbClr val="0000FF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Times New Roman"/>
                <a:ea typeface="楷体_GB2312" pitchFamily="49" charset="-122"/>
              </a:rPr>
              <a:t>堆排序：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建堆，原地堆排序的思路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8758325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四</a:t>
            </a:r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、查找算法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符号表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概念，测试用例：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词频统计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初级实现：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链表（顺序搜索）、有序数组（二分搜索）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有序操作的函数：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floor()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ceiling()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rank()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select()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二叉查找树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概念（性质）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基本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操作与实现：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查找、插入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有序列操作与实现：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上述的有序操作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删除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操作</a:t>
            </a: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与实现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lazy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方法、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Hibbard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方法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2880682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五、图算法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最小生成树（</a:t>
            </a: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MST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）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割的性质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贪心算法设计思想：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它在求解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MST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中的应用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err="1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Kruskal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算法思想，割，数据结构，实现，性能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Prim(lazy)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算法思想，割，数据结构，实现，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性能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Prim(eager)</a:t>
            </a: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算法思想，割，数据结构，实现，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性能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索引优先队列：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应用场景，数据结构</a:t>
            </a:r>
            <a:endParaRPr lang="en-US" altLang="zh-CN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0902915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五、图算法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最短路径（</a:t>
            </a: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SP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）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概念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SP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的性质</a:t>
            </a:r>
            <a:r>
              <a:rPr lang="zh-CN" altLang="en-US" sz="24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边的松弛，</a:t>
            </a:r>
            <a:r>
              <a:rPr lang="en-US" altLang="zh-CN" sz="2400" kern="0" dirty="0" smtClean="0">
                <a:latin typeface="Times New Roman"/>
                <a:ea typeface="楷体_GB2312" pitchFamily="49" charset="-122"/>
              </a:rPr>
              <a:t>SP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的求解策略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err="1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Dijkstra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：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适用场景，策略，数据结构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，实现，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性能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拓扑排序：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适用场景，策略，数据结构，实现，性能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kern="0" dirty="0" err="1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Bellmanford</a:t>
            </a:r>
            <a:r>
              <a:rPr lang="en-US" altLang="zh-CN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:</a:t>
            </a:r>
            <a:r>
              <a:rPr lang="zh-CN" altLang="en-US" sz="2400" kern="0" smtClean="0">
                <a:latin typeface="Times New Roman"/>
                <a:ea typeface="楷体_GB2312" pitchFamily="49" charset="-122"/>
              </a:rPr>
              <a:t>适用</a:t>
            </a:r>
            <a:r>
              <a:rPr lang="zh-CN" altLang="en-US" sz="2400" kern="0">
                <a:latin typeface="Times New Roman"/>
                <a:ea typeface="楷体_GB2312" pitchFamily="49" charset="-122"/>
              </a:rPr>
              <a:t>场景</a:t>
            </a:r>
            <a:r>
              <a:rPr lang="zh-CN" altLang="en-US" sz="2400" kern="0" smtClean="0">
                <a:latin typeface="Times New Roman"/>
                <a:ea typeface="楷体_GB2312" pitchFamily="49" charset="-122"/>
              </a:rPr>
              <a:t>，策略，</a:t>
            </a:r>
            <a:r>
              <a:rPr lang="zh-CN" altLang="en-US" sz="2400" kern="0" dirty="0">
                <a:latin typeface="Times New Roman"/>
                <a:ea typeface="楷体_GB2312" pitchFamily="49" charset="-122"/>
              </a:rPr>
              <a:t>数据结构，实现，</a:t>
            </a:r>
            <a:r>
              <a:rPr lang="zh-CN" altLang="en-US" sz="2400" kern="0" dirty="0" smtClean="0">
                <a:latin typeface="Times New Roman"/>
                <a:ea typeface="楷体_GB2312" pitchFamily="49" charset="-122"/>
              </a:rPr>
              <a:t>性能</a:t>
            </a: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不同场景的比较</a:t>
            </a:r>
            <a:endParaRPr lang="en-US" altLang="zh-CN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0746469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EF11A0-BCD0-48CE-B96C-9EE0B2B38C9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416214C-6A89-47BA-B3F7-06E655FB13BD}" type="datetime1">
              <a:rPr lang="zh-CN" altLang="en-US" smtClean="0"/>
              <a:pPr>
                <a:defRPr/>
              </a:pPr>
              <a:t>2017/11/2</a:t>
            </a:fld>
            <a:endParaRPr lang="zh-CN" altLang="zh-CN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 bwMode="auto">
          <a:xfrm>
            <a:off x="1341709" y="260648"/>
            <a:ext cx="6768752" cy="5620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六</a:t>
            </a:r>
            <a:r>
              <a:rPr lang="zh-CN" altLang="en-US" sz="32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、字符串排序</a:t>
            </a:r>
            <a:endParaRPr lang="en-US" altLang="zh-CN" sz="32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496" y="1124744"/>
            <a:ext cx="878497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键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值索引计数（计数排序）</a:t>
            </a:r>
            <a:endParaRPr lang="en-US" altLang="zh-CN" sz="32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适用场景</a:t>
            </a: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算法思路、实现、性能</a:t>
            </a: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latin typeface="Times New Roman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LSD</a:t>
            </a: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、</a:t>
            </a:r>
            <a:r>
              <a:rPr lang="en-US" altLang="zh-CN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MSD</a:t>
            </a: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和三向快速字符串排序</a:t>
            </a:r>
            <a:endParaRPr lang="en-US" altLang="zh-CN" sz="2400" kern="0" dirty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算法思路</a:t>
            </a:r>
            <a:r>
              <a:rPr lang="zh-CN" altLang="en-US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、实现、复杂度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zh-CN" altLang="en-US" sz="3200" kern="0" dirty="0" smtClean="0">
                <a:solidFill>
                  <a:srgbClr val="3333CC"/>
                </a:solidFill>
                <a:latin typeface="Times New Roman"/>
                <a:ea typeface="楷体_GB2312" pitchFamily="49" charset="-122"/>
              </a:rPr>
              <a:t>排序算法的比较：</a:t>
            </a:r>
            <a:r>
              <a:rPr lang="zh-CN" altLang="en-US" kern="0" dirty="0" smtClean="0">
                <a:latin typeface="Times New Roman"/>
                <a:ea typeface="楷体_GB2312" pitchFamily="49" charset="-122"/>
              </a:rPr>
              <a:t>基于比较的排序算法、字符串排序算法</a:t>
            </a:r>
            <a:endParaRPr lang="en-US" altLang="zh-CN" sz="2400" kern="0" dirty="0">
              <a:latin typeface="Times New Roman"/>
              <a:ea typeface="楷体_GB2312" pitchFamily="49" charset="-122"/>
            </a:endParaRPr>
          </a:p>
          <a:p>
            <a:pPr marL="914400" lvl="1" indent="-514350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kern="0" dirty="0" smtClean="0">
              <a:solidFill>
                <a:srgbClr val="3333CC"/>
              </a:solidFill>
              <a:latin typeface="Times New Roman"/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7056325"/>
      </p:ext>
    </p:extLst>
  </p:cSld>
  <p:clrMapOvr>
    <a:masterClrMapping/>
  </p:clrMapOvr>
  <p:transition advTm="19657">
    <p:random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heme/theme1.xml><?xml version="1.0" encoding="utf-8"?>
<a:theme xmlns:a="http://schemas.openxmlformats.org/drawingml/2006/main" name="三色白">
  <a:themeElements>
    <a:clrScheme name="三色白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三色白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三色白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三色白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三色白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三色白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三色白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三色白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三色白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47867</TotalTime>
  <Words>647</Words>
  <Application>Microsoft Office PowerPoint</Application>
  <PresentationFormat>全屏显示(4:3)</PresentationFormat>
  <Paragraphs>142</Paragraphs>
  <Slides>14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三色白</vt:lpstr>
      <vt:lpstr>PowerPoint 演示文稿</vt:lpstr>
      <vt:lpstr>课程内容</vt:lpstr>
      <vt:lpstr>一、算法分析</vt:lpstr>
      <vt:lpstr>一、算法分析</vt:lpstr>
      <vt:lpstr>二、合并查找</vt:lpstr>
      <vt:lpstr>二、合并查找</vt:lpstr>
      <vt:lpstr>三、基于比较的排序</vt:lpstr>
      <vt:lpstr>三、基于比较的排序</vt:lpstr>
      <vt:lpstr>三、基于比较的排序</vt:lpstr>
      <vt:lpstr>三、基于比较的排序</vt:lpstr>
      <vt:lpstr>四、查找算法</vt:lpstr>
      <vt:lpstr>五、图算法</vt:lpstr>
      <vt:lpstr>五、图算法</vt:lpstr>
      <vt:lpstr>六、字符串排序</vt:lpstr>
    </vt:vector>
  </TitlesOfParts>
  <Company>Xidian Xxs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lenovo</cp:lastModifiedBy>
  <cp:revision>2775</cp:revision>
  <cp:lastPrinted>2014-05-04T08:36:26Z</cp:lastPrinted>
  <dcterms:created xsi:type="dcterms:W3CDTF">2003-12-08T12:44:11Z</dcterms:created>
  <dcterms:modified xsi:type="dcterms:W3CDTF">2017-11-01T16:17:31Z</dcterms:modified>
</cp:coreProperties>
</file>